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2016-01</c:v>
                  </c:pt>
                  <c:pt idx="1">
                    <c:v>2016-02</c:v>
                  </c:pt>
                  <c:pt idx="2">
                    <c:v>2016-03</c:v>
                  </c:pt>
                  <c:pt idx="3">
                    <c:v>2016-04</c:v>
                  </c:pt>
                  <c:pt idx="4">
                    <c:v>2016-05</c:v>
                  </c:pt>
                  <c:pt idx="5">
                    <c:v>2016-06</c:v>
                  </c:pt>
                  <c:pt idx="6">
                    <c:v>2016-07</c:v>
                  </c:pt>
                  <c:pt idx="7">
                    <c:v>2016-08</c:v>
                  </c:pt>
                  <c:pt idx="8">
                    <c:v>2016-09</c:v>
                  </c:pt>
                  <c:pt idx="9">
                    <c:v>2016-10</c:v>
                  </c:pt>
                  <c:pt idx="10">
                    <c:v>2016-11</c:v>
                  </c:pt>
                  <c:pt idx="11">
                    <c:v>2016-12</c:v>
                  </c:pt>
                  <c:pt idx="12">
                    <c:v>2017-01</c:v>
                  </c:pt>
                  <c:pt idx="13">
                    <c:v>2017-02</c:v>
                  </c:pt>
                  <c:pt idx="14">
                    <c:v>2017-03</c:v>
                  </c:pt>
                  <c:pt idx="15">
                    <c:v>2017-04</c:v>
                  </c:pt>
                  <c:pt idx="16">
                    <c:v>2017-05</c:v>
                  </c:pt>
                  <c:pt idx="17">
                    <c:v>2017-06</c:v>
                  </c:pt>
                  <c:pt idx="18">
                    <c:v>2017-07</c:v>
                  </c:pt>
                  <c:pt idx="19">
                    <c:v>2017-08</c:v>
                  </c:pt>
                  <c:pt idx="20">
                    <c:v>2017-09</c:v>
                  </c:pt>
                  <c:pt idx="21">
                    <c:v>2017-10</c:v>
                  </c:pt>
                  <c:pt idx="22">
                    <c:v>2017-11</c:v>
                  </c:pt>
                  <c:pt idx="23">
                    <c:v>2017-12</c:v>
                  </c:pt>
                  <c:pt idx="24">
                    <c:v>2018-01</c:v>
                  </c:pt>
                  <c:pt idx="25">
                    <c:v>2018-02</c:v>
                  </c:pt>
                  <c:pt idx="26">
                    <c:v>2018-03</c:v>
                  </c:pt>
                  <c:pt idx="27">
                    <c:v>2018-04</c:v>
                  </c:pt>
                  <c:pt idx="28">
                    <c:v>2018-05</c:v>
                  </c:pt>
                  <c:pt idx="29">
                    <c:v>2018-06</c:v>
                  </c:pt>
                  <c:pt idx="30">
                    <c:v>2018-07</c:v>
                  </c:pt>
                  <c:pt idx="31">
                    <c:v>2018-08</c:v>
                  </c:pt>
                  <c:pt idx="32">
                    <c:v>2018-09</c:v>
                  </c:pt>
                  <c:pt idx="33">
                    <c:v>2018-10</c:v>
                  </c:pt>
                  <c:pt idx="34">
                    <c:v>2018-11</c:v>
                  </c:pt>
                  <c:pt idx="35">
                    <c:v>2018-12</c:v>
                  </c:pt>
                  <c:pt idx="36">
                    <c:v>2019-01</c:v>
                  </c:pt>
                  <c:pt idx="37">
                    <c:v>2019-02</c:v>
                  </c:pt>
                  <c:pt idx="38">
                    <c:v>2019-03</c:v>
                  </c:pt>
                  <c:pt idx="39">
                    <c:v>2019-04</c:v>
                  </c:pt>
                  <c:pt idx="40">
                    <c:v>2019-05</c:v>
                  </c:pt>
                  <c:pt idx="41">
                    <c:v>2019-06</c:v>
                  </c:pt>
                  <c:pt idx="42">
                    <c:v>2019-07</c:v>
                  </c:pt>
                  <c:pt idx="43">
                    <c:v>2019-08</c:v>
                  </c:pt>
                  <c:pt idx="44">
                    <c:v>2019-09</c:v>
                  </c:pt>
                  <c:pt idx="45">
                    <c:v>2019-10</c:v>
                  </c:pt>
                  <c:pt idx="46">
                    <c:v>2019-11</c:v>
                  </c:pt>
                  <c:pt idx="47">
                    <c:v>2019-12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14237</c:v>
                </c:pt>
                <c:pt idx="1">
                  <c:v>4520</c:v>
                </c:pt>
                <c:pt idx="2">
                  <c:v>55691</c:v>
                </c:pt>
                <c:pt idx="3">
                  <c:v>28295</c:v>
                </c:pt>
                <c:pt idx="4">
                  <c:v>23648</c:v>
                </c:pt>
                <c:pt idx="5">
                  <c:v>34595</c:v>
                </c:pt>
                <c:pt idx="6">
                  <c:v>33946</c:v>
                </c:pt>
                <c:pt idx="7">
                  <c:v>27909</c:v>
                </c:pt>
                <c:pt idx="8">
                  <c:v>81777</c:v>
                </c:pt>
                <c:pt idx="9">
                  <c:v>31453</c:v>
                </c:pt>
                <c:pt idx="10">
                  <c:v>78629</c:v>
                </c:pt>
                <c:pt idx="11">
                  <c:v>69546</c:v>
                </c:pt>
                <c:pt idx="12">
                  <c:v>18174</c:v>
                </c:pt>
                <c:pt idx="13">
                  <c:v>11951</c:v>
                </c:pt>
                <c:pt idx="14">
                  <c:v>38726</c:v>
                </c:pt>
                <c:pt idx="15">
                  <c:v>34195</c:v>
                </c:pt>
                <c:pt idx="16">
                  <c:v>30132</c:v>
                </c:pt>
                <c:pt idx="17">
                  <c:v>24797</c:v>
                </c:pt>
                <c:pt idx="18">
                  <c:v>28765</c:v>
                </c:pt>
                <c:pt idx="19">
                  <c:v>36898</c:v>
                </c:pt>
                <c:pt idx="20">
                  <c:v>64596</c:v>
                </c:pt>
                <c:pt idx="21">
                  <c:v>31405</c:v>
                </c:pt>
                <c:pt idx="22">
                  <c:v>75973</c:v>
                </c:pt>
                <c:pt idx="23">
                  <c:v>74920</c:v>
                </c:pt>
                <c:pt idx="24">
                  <c:v>18542</c:v>
                </c:pt>
                <c:pt idx="25">
                  <c:v>22979</c:v>
                </c:pt>
                <c:pt idx="26">
                  <c:v>51716</c:v>
                </c:pt>
                <c:pt idx="27">
                  <c:v>38750</c:v>
                </c:pt>
                <c:pt idx="28">
                  <c:v>56988</c:v>
                </c:pt>
                <c:pt idx="29">
                  <c:v>40345</c:v>
                </c:pt>
                <c:pt idx="30">
                  <c:v>39262</c:v>
                </c:pt>
                <c:pt idx="31">
                  <c:v>31115</c:v>
                </c:pt>
                <c:pt idx="32">
                  <c:v>73410</c:v>
                </c:pt>
                <c:pt idx="33">
                  <c:v>59688</c:v>
                </c:pt>
                <c:pt idx="34">
                  <c:v>79412</c:v>
                </c:pt>
                <c:pt idx="35">
                  <c:v>96999</c:v>
                </c:pt>
                <c:pt idx="36">
                  <c:v>43971</c:v>
                </c:pt>
                <c:pt idx="37">
                  <c:v>20301</c:v>
                </c:pt>
                <c:pt idx="38">
                  <c:v>58872</c:v>
                </c:pt>
                <c:pt idx="39">
                  <c:v>36522</c:v>
                </c:pt>
                <c:pt idx="40">
                  <c:v>44261</c:v>
                </c:pt>
                <c:pt idx="41">
                  <c:v>52982</c:v>
                </c:pt>
                <c:pt idx="42">
                  <c:v>45264</c:v>
                </c:pt>
                <c:pt idx="43">
                  <c:v>63121</c:v>
                </c:pt>
                <c:pt idx="44">
                  <c:v>87867</c:v>
                </c:pt>
                <c:pt idx="45">
                  <c:v>77777</c:v>
                </c:pt>
                <c:pt idx="46">
                  <c:v>118448</c:v>
                </c:pt>
                <c:pt idx="47">
                  <c:v>83829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742000</c:v>
                </c:pt>
                <c:pt idx="1">
                  <c:v>719047</c:v>
                </c:pt>
                <c:pt idx="2">
                  <c:v>836154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BA58B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18451</c:v>
                </c:pt>
                <c:pt idx="1">
                  <c:v>122491</c:v>
                </c:pt>
                <c:pt idx="2">
                  <c:v>145455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BA5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Supplies</c:v>
                  </c:pt>
                  <c:pt idx="3">
                    <c:v>Fasteners</c:v>
                  </c:pt>
                  <c:pt idx="4">
                    <c:v>Machines</c:v>
                  </c:pt>
                  <c:pt idx="5">
                    <c:v>Labels</c:v>
                  </c:pt>
                  <c:pt idx="6">
                    <c:v>Art</c:v>
                  </c:pt>
                  <c:pt idx="7">
                    <c:v>Envelopes</c:v>
                  </c:pt>
                  <c:pt idx="8">
                    <c:v>Furnishings</c:v>
                  </c:pt>
                  <c:pt idx="9">
                    <c:v>Appliances</c:v>
                  </c:pt>
                  <c:pt idx="10">
                    <c:v>Storage</c:v>
                  </c:pt>
                  <c:pt idx="11">
                    <c:v>Chairs</c:v>
                  </c:pt>
                  <c:pt idx="12">
                    <c:v>Binders</c:v>
                  </c:pt>
                  <c:pt idx="13">
                    <c:v>Paper</c:v>
                  </c:pt>
                  <c:pt idx="14">
                    <c:v>Accessories</c:v>
                  </c:pt>
                  <c:pt idx="15">
                    <c:v>Phones</c:v>
                  </c:pt>
                  <c:pt idx="16">
                    <c:v>Copiers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-17725</c:v>
                </c:pt>
                <c:pt idx="1">
                  <c:v>-3473</c:v>
                </c:pt>
                <c:pt idx="2">
                  <c:v>-1189</c:v>
                </c:pt>
                <c:pt idx="3">
                  <c:v>950</c:v>
                </c:pt>
                <c:pt idx="4">
                  <c:v>3385</c:v>
                </c:pt>
                <c:pt idx="5">
                  <c:v>5546</c:v>
                </c:pt>
                <c:pt idx="6">
                  <c:v>6528</c:v>
                </c:pt>
                <c:pt idx="7">
                  <c:v>6964</c:v>
                </c:pt>
                <c:pt idx="8">
                  <c:v>13059</c:v>
                </c:pt>
                <c:pt idx="9">
                  <c:v>18138</c:v>
                </c:pt>
                <c:pt idx="10">
                  <c:v>21279</c:v>
                </c:pt>
                <c:pt idx="11">
                  <c:v>26590</c:v>
                </c:pt>
                <c:pt idx="12">
                  <c:v>30222</c:v>
                </c:pt>
                <c:pt idx="13">
                  <c:v>34054</c:v>
                </c:pt>
                <c:pt idx="14">
                  <c:v>41937</c:v>
                </c:pt>
                <c:pt idx="15">
                  <c:v>44516</c:v>
                </c:pt>
                <c:pt idx="16">
                  <c:v>55618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501240</c:v>
                </c:pt>
                <c:pt idx="1">
                  <c:v>678781</c:v>
                </c:pt>
                <c:pt idx="2">
                  <c:v>391722</c:v>
                </c:pt>
                <c:pt idx="3">
                  <c:v>725458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BA58B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39706</c:v>
                </c:pt>
                <c:pt idx="1">
                  <c:v>91523</c:v>
                </c:pt>
                <c:pt idx="2">
                  <c:v>46749</c:v>
                </c:pt>
                <c:pt idx="3">
                  <c:v>108418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Calibri"/>
              </a:rPr>
              <a:t>Top 5 Customers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Sean Miller</c:v>
                  </c:pt>
                  <c:pt idx="1">
                    <c:v>Tamara Chand</c:v>
                  </c:pt>
                  <c:pt idx="2">
                    <c:v>Raymond Buch</c:v>
                  </c:pt>
                  <c:pt idx="3">
                    <c:v>Tom Ashbrook</c:v>
                  </c:pt>
                  <c:pt idx="4">
                    <c:v>Adrian Barton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25043</c:v>
                </c:pt>
                <c:pt idx="1">
                  <c:v>19052</c:v>
                </c:pt>
                <c:pt idx="2">
                  <c:v>15117</c:v>
                </c:pt>
                <c:pt idx="3">
                  <c:v>14596</c:v>
                </c:pt>
                <c:pt idx="4">
                  <c:v>14474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Calibri"/>
              </a:rPr>
              <a:t>Top 5 Products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Canon imageCLASS 2200</c:v>
                  </c:pt>
                  <c:pt idx="1">
                    <c:v>Fellowes PB500 Electric</c:v>
                  </c:pt>
                  <c:pt idx="2">
                    <c:v>Cisco TelePresence System</c:v>
                  </c:pt>
                  <c:pt idx="3">
                    <c:v>HON 5400 Series</c:v>
                  </c:pt>
                  <c:pt idx="4">
                    <c:v>GBC DocuBind TL300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61600</c:v>
                </c:pt>
                <c:pt idx="1">
                  <c:v>27453</c:v>
                </c:pt>
                <c:pt idx="2">
                  <c:v>22638</c:v>
                </c:pt>
                <c:pt idx="3">
                  <c:v>21871</c:v>
                </c:pt>
                <c:pt idx="4">
                  <c:v>19823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F2A33A"/>
              </a:solidFill>
              <a:effectLst/>
            </c:spPr>
          </c:dPt>
          <c:dPt>
            <c:idx val="2"/>
            <c:bubble3D val="0"/>
            <c:spPr>
              <a:solidFill>
                <a:srgbClr val="7FB2E5"/>
              </a:solidFill>
              <a:effectLst/>
            </c:spPr>
          </c:dPt>
          <c:dPt>
            <c:idx val="3"/>
            <c:bubble3D val="0"/>
            <c:spPr>
              <a:solidFill>
                <a:srgbClr val="1F3A5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First Class</c:v>
                </c:pt>
                <c:pt idx="1">
                  <c:v>Same Day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351428</c:v>
                </c:pt>
                <c:pt idx="1">
                  <c:v>128363</c:v>
                </c:pt>
                <c:pt idx="2">
                  <c:v>459194</c:v>
                </c:pt>
                <c:pt idx="3">
                  <c:v>1358216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Calibri"/>
              </a:rPr>
              <a:t>Sales by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Calibri"/>
              </a:rPr>
              <a:t>Average profit per order line by discount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</c:v>
                </c:pt>
              </c:strCache>
            </c:strRef>
          </c:tx>
          <c:spPr>
            <a:solidFill>
              <a:srgbClr val="2BA5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A5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0%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30%</c:v>
                  </c:pt>
                  <c:pt idx="5">
                    <c:v>32%</c:v>
                  </c:pt>
                  <c:pt idx="6">
                    <c:v>40%</c:v>
                  </c:pt>
                  <c:pt idx="7">
                    <c:v>45%</c:v>
                  </c:pt>
                  <c:pt idx="8">
                    <c:v>50%</c:v>
                  </c:pt>
                  <c:pt idx="9">
                    <c:v>60%</c:v>
                  </c:pt>
                  <c:pt idx="10">
                    <c:v>70%</c:v>
                  </c:pt>
                  <c:pt idx="11">
                    <c:v>80%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66.9</c:v>
                </c:pt>
                <c:pt idx="1">
                  <c:v>96.1</c:v>
                </c:pt>
                <c:pt idx="2">
                  <c:v>27.3</c:v>
                </c:pt>
                <c:pt idx="3">
                  <c:v>24.7</c:v>
                </c:pt>
                <c:pt idx="4">
                  <c:v>-45.7</c:v>
                </c:pt>
                <c:pt idx="5">
                  <c:v>-88.6</c:v>
                </c:pt>
                <c:pt idx="6">
                  <c:v>-111.9</c:v>
                </c:pt>
                <c:pt idx="7">
                  <c:v>-226.6</c:v>
                </c:pt>
                <c:pt idx="8">
                  <c:v>-310.7</c:v>
                </c:pt>
                <c:pt idx="9">
                  <c:v>-43.1</c:v>
                </c:pt>
                <c:pt idx="10">
                  <c:v>-95.9</c:v>
                </c:pt>
                <c:pt idx="11">
                  <c:v>-101.8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7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9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Slide-10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1" Type="http://schemas.openxmlformats.org/officeDocument/2006/relationships/image" Target="../media/Slide-11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DASHBOARD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2240280"/>
            <a:ext cx="1280160" cy="64008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423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project: sales performance, profitability and discount analysis (2016 to 2019)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CoachX | Data Analytics Project |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and what data was used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90472"/>
            <a:ext cx="64008" cy="29626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4173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90472"/>
            <a:ext cx="64008" cy="296265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490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sales and profit trends over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products, customers, regions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shipping modes and their impact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discounts affect profit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A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37490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order lines, 21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Jan 2016 to Dec 2019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customers, 1,850 products, 531 cities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Power BI (Power Query + DAX)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followed in Power BI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64008" cy="11338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Excel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27632"/>
            <a:ext cx="64008" cy="113385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 Power Query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27632"/>
            <a:ext cx="64008" cy="113385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table +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82112"/>
            <a:ext cx="64008" cy="11338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182112"/>
            <a:ext cx="64008" cy="113385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6 report pages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182112"/>
            <a:ext cx="64008" cy="113385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+ insights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Data Cleaning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Power Query before any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and Ship Date converted from text to Date type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 set to Text; 11 blank values (Burlington, VT) filled with 05401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and Sales kept as Decimal (Whole Number rounded Avg Discount to 8.6% instead of 15.6%)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ID removed; unused sheets (Sheet2, 3, 4) not loaded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Added: Sales Tax (10%), Sales Category (High/Low), Discount Flag, First and Last Name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queries: Sales_NoDup (unique Order ID) and Sales_Discounted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KPI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across 2016 to 2019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10512"/>
            <a:ext cx="64008" cy="14081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9696" y="17373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9696" y="1810512"/>
            <a:ext cx="64008" cy="140817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31136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A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22192" y="17373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810512"/>
            <a:ext cx="64008" cy="140817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4688" y="17373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04688" y="1810512"/>
            <a:ext cx="64008" cy="140817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96128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37,873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87184" y="173736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87184" y="1810512"/>
            <a:ext cx="64008" cy="140817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78624" y="19659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15.6%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2651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overall margin, but unevenly distributed across categories and regions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of 15.6% hides a loss problem at higher discount levels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Sales Trend and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sales, 2016 to 2019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53619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1965960"/>
            <a:ext cx="219456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2017: -2.8%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2018: +29.5%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2019: +20.4%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and Dec are the strongest months; Feb is the weakest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Category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leads; Furniture earns very little profit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46304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536192"/>
            <a:ext cx="64008" cy="287121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1600200"/>
            <a:ext cx="26517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836K sales, 145K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Supplies: 719K sales, 122K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742K sales but only 18K profit (about 2.5% margin)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Sub-Category Profit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sub-categories lose money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2588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536192"/>
            <a:ext cx="64008" cy="2871216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-17.7K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 and Supplies are also negative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and Phones earn the most profit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Region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lead; Central has weak margins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46304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536192"/>
            <a:ext cx="64008" cy="28712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1600200"/>
            <a:ext cx="26517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725K sales, 108K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679K sales, 92K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501K sales but only 40K profit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give 61% of total sales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Customers and Products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sales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2588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3258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is the top customer (25K). Canon imageCLASS 2200 is the top product (61.6K sales, 25K profit). Consumer segment gives 1.16M sales.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Ship Mode and Segment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 shipping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37160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Discount vs Profit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finding of the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25880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536192"/>
            <a:ext cx="64008" cy="2871216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600200"/>
            <a:ext cx="228600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20% discount: profit stays positive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and above: average loss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discount: profit -34.6K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without discount: profit +321K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Power Query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results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36192"/>
            <a:ext cx="64008" cy="12252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733K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 2019 (3,312 lines)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36192"/>
            <a:ext cx="64008" cy="1225296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00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1.20M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after removing duplicate Order IDs (was 2.30M)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90672"/>
            <a:ext cx="64008" cy="122529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to 221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per order line, 2016 to 2019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90672"/>
            <a:ext cx="64008" cy="1225296"/>
          </a:xfrm>
          <a:prstGeom prst="rect">
            <a:avLst/>
          </a:prstGeom>
          <a:solidFill>
            <a:srgbClr val="2BA58B"/>
          </a:solidFill>
          <a:ln w="12700">
            <a:solidFill>
              <a:srgbClr val="2BA5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A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1.21M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on discounted orders (5,196 lines)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Executive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07024" cy="333778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0" descr="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5852160" cy="32829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258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39903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page shows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Sales 2.30M, Profit 286K, Margin 12.5%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gives about 59% of sales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leads; Furniture profit is very low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Customer and Product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07024" cy="331399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0" descr="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5852160" cy="3259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258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39903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page shows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customers; average sales per customer 2.90K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customer: Sean Miller (25K)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gives 1.16M sales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Time and Region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07024" cy="331399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0" descr="p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5852160" cy="3259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258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39903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page shows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quantity rise together over months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sales reach 2.30M by end of 2019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108K profit; West and East give 61% of sales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Discount and Profit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07024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0" descr="p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585216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258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39903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page shows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discount: sales 1.21M, profit -34.6K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discount: profit +321K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begin at 30% discount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Power Query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page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907024" cy="331399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0" descr="p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53312"/>
            <a:ext cx="5852160" cy="32591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325880"/>
            <a:ext cx="2286000" cy="3017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399032"/>
            <a:ext cx="64008" cy="28712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page shows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1737360"/>
            <a:ext cx="21031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sales: 733K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removal: 2.30M falls to 1.20M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per order line: 243 to 221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 to 25%; losses begin at 30% and peak at 50%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and sourcing for Tables, Bookcases and Supplies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Furniture margin (sales 742K, profit only 18K)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Central region cost and discount strategy (profit only 40K on 501K sales)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growth on Technology and the Consumer segment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for the top customers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from 484K (2016) to 733K (2019) with a 12.5% overall margin.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turn profitable orders into losses.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three sub-categories hold back profit.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discounts and fixing pricing can raise profitability.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Dashboard</dc:title>
  <dc:subject>PptxGenJS Presentation</dc:subject>
  <dc:creator>PptxGenJS</dc:creator>
  <cp:lastModifiedBy>PptxGenJS</cp:lastModifiedBy>
  <cp:revision>1</cp:revision>
  <dcterms:created xsi:type="dcterms:W3CDTF">2026-10-21T08:37:23Z</dcterms:created>
  <dcterms:modified xsi:type="dcterms:W3CDTF">2026-10-21T08:37:23Z</dcterms:modified>
</cp:coreProperties>
</file>